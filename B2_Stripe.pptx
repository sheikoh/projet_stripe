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Inter SemiBold"/>
      <p:regular r:id="rId17"/>
      <p:bold r:id="rId18"/>
      <p:italic r:id="rId19"/>
      <p:boldItalic r:id="rId20"/>
    </p:embeddedFont>
    <p:embeddedFont>
      <p:font typeface="Inter Medium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>
          <p15:clr>
            <a:srgbClr val="747775"/>
          </p15:clr>
        </p15:guide>
      </p15:sldGuideLst>
    </p:ext>
    <p:ext uri="GoogleSlidesCustomDataVersion2">
      <go:slidesCustomData xmlns:go="http://customooxmlschemas.google.com/" r:id="rId25" roundtripDataSignature="AMtx7mhfeAxyoqQI1bIhKHkndOEmz8K8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boldItalic.fntdata"/><Relationship Id="rId22" Type="http://schemas.openxmlformats.org/officeDocument/2006/relationships/font" Target="fonts/InterMedium-bold.fntdata"/><Relationship Id="rId21" Type="http://schemas.openxmlformats.org/officeDocument/2006/relationships/font" Target="fonts/InterMedium-regular.fntdata"/><Relationship Id="rId24" Type="http://schemas.openxmlformats.org/officeDocument/2006/relationships/font" Target="fonts/InterMedium-boldItalic.fntdata"/><Relationship Id="rId23" Type="http://schemas.openxmlformats.org/officeDocument/2006/relationships/font" Target="fonts/InterMedium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5" Type="http://customschemas.google.com/relationships/presentationmetadata" Target="meta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InterSemiBold-regular.fntdata"/><Relationship Id="rId16" Type="http://schemas.openxmlformats.org/officeDocument/2006/relationships/slide" Target="slides/slide10.xml"/><Relationship Id="rId19" Type="http://schemas.openxmlformats.org/officeDocument/2006/relationships/font" Target="fonts/InterSemiBold-italic.fntdata"/><Relationship Id="rId18" Type="http://schemas.openxmlformats.org/officeDocument/2006/relationships/font" Target="fonts/InterSemiBold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/>
              <a:t>générale architecture</a:t>
            </a:r>
            <a:endParaRPr sz="11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3a03c189e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g3e3a03c18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3a03c189e_0_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g3e3a03c189e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/>
              <a:t>Plot des erreurs : prédiction meilleure sur données centrales que le sur valeurs basses et haute de la target</a:t>
            </a:r>
            <a:endParaRPr sz="11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436c1bcfb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e436c1bcfb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/>
              <a:t>Plot des erreurs : prédiction meilleure sur données centrales que le sur valeurs basses et haute de la target</a:t>
            </a:r>
            <a:endParaRPr sz="11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e3a03c189e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g3e3a03c189e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/>
              <a:t>Plot des erreurs : prédiction meilleure sur données centrales que le sur valeurs basses et haute de la target</a:t>
            </a:r>
            <a:endParaRPr sz="11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e3a03c189e_0_4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3e3a03c189e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/>
              <a:t>Plot des erreurs : prédiction meilleure sur données centrales que le sur valeurs basses et haute de la target</a:t>
            </a:r>
            <a:endParaRPr sz="11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-FR" sz="1100"/>
              <a:t>Valeur immédiate :</a:t>
            </a:r>
            <a:endParaRPr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/>
              <a:t>Visibilité sur 3 jours → meilleure planification.</a:t>
            </a:r>
            <a:endParaRPr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/>
              <a:t>Anticipation des pics et baisses → réseau plus stable, délestage de l’hydro électrique au profit du solaire</a:t>
            </a:r>
            <a:endParaRPr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/>
              <a:t>Lecture régionale fine → priorisation des investissements ??</a:t>
            </a:r>
            <a:endParaRPr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/>
              <a:t>Outil d’aide à la décision clair et exploitable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1100"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-FR" sz="1100"/>
              <a:t>Perspectives :</a:t>
            </a:r>
            <a:endParaRPr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/>
              <a:t>Passage en temps réel</a:t>
            </a:r>
            <a:endParaRPr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/>
              <a:t>Ajout de la prévision intra day (données de prod RTE disponibles à la demi heure)</a:t>
            </a:r>
            <a:endParaRPr/>
          </a:p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/>
              <a:t>Enrichissement par données satellitaires</a:t>
            </a:r>
            <a:endParaRPr/>
          </a:p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6" name="Google Shape;56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7" name="Google Shape;57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0" name="Google Shape;60;p3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1" name="Google Shape;61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3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3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3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4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4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8" name="Google Shape;88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2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91" name="Google Shape;91;p4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github.com/Sheikoh/Project_Getaround.gi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hyperlink" Target="https://huggingface.co/spaces/Sheyko/Dashboard_getaround" TargetMode="External"/><Relationship Id="rId5" Type="http://schemas.openxmlformats.org/officeDocument/2006/relationships/image" Target="../media/image6.png"/><Relationship Id="rId6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/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-FR"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 Stripe</a:t>
            </a:r>
            <a:endParaRPr sz="40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/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31111"/>
              <a:buNone/>
            </a:pPr>
            <a:r>
              <a:rPr lang="fr-FR" sz="25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Design d’architecture</a:t>
            </a:r>
            <a:endParaRPr sz="250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fr-FR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-FR" sz="25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Objectifs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4"/>
          <p:cNvSpPr txBox="1"/>
          <p:nvPr>
            <p:ph idx="1" type="body"/>
          </p:nvPr>
        </p:nvSpPr>
        <p:spPr>
          <a:xfrm>
            <a:off x="311700" y="880351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fr-FR" sz="2000"/>
              <a:t>Stripe</a:t>
            </a:r>
            <a:r>
              <a:rPr b="1" lang="fr-FR" sz="2000"/>
              <a:t> </a:t>
            </a:r>
            <a:r>
              <a:rPr lang="fr-FR" sz="2000"/>
              <a:t>est une application de gestion de paiements et opérations financières pour des business de toutes tailles.</a:t>
            </a:r>
            <a:endParaRPr/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000"/>
          </a:p>
        </p:txBody>
      </p:sp>
      <p:sp>
        <p:nvSpPr>
          <p:cNvPr id="112" name="Google Shape;112;p4"/>
          <p:cNvSpPr/>
          <p:nvPr/>
        </p:nvSpPr>
        <p:spPr>
          <a:xfrm>
            <a:off x="524649" y="2586775"/>
            <a:ext cx="1252200" cy="9294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1" i="0" lang="fr-F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Cible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1872825" y="2586775"/>
            <a:ext cx="6959400" cy="92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Assurer </a:t>
            </a:r>
            <a:r>
              <a:rPr b="0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fr-FR" sz="1200"/>
              <a:t>’intégration efficace des données à travers la chaîne de </a:t>
            </a:r>
            <a:r>
              <a:rPr lang="fr-FR" sz="1200"/>
              <a:t>traitement</a:t>
            </a:r>
            <a:r>
              <a:rPr lang="fr-FR" sz="1200"/>
              <a:t> sous différents formats pour permettre le stockage et l’utilisation efficaces des données.</a:t>
            </a:r>
            <a:r>
              <a:rPr b="0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Garantir </a:t>
            </a:r>
            <a:r>
              <a:rPr b="0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 sécurisation des données tout en offran</a:t>
            </a:r>
            <a:r>
              <a:rPr lang="fr-FR" sz="1200"/>
              <a:t>t une grande vitesse de transferts des informations..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524650" y="3989650"/>
            <a:ext cx="1252200" cy="7506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1" i="0" lang="fr-F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Finalité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1872925" y="3989650"/>
            <a:ext cx="6959400" cy="750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fr-FR" sz="1200"/>
              <a:t>Une infrastructure robuste, adaptable et capable de répondre à de grands volumes de demandes simultanées, tout en assurant la sécurité des données.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" name="Google Shape;116;p4"/>
          <p:cNvGrpSpPr/>
          <p:nvPr/>
        </p:nvGrpSpPr>
        <p:grpSpPr>
          <a:xfrm>
            <a:off x="235500" y="2352227"/>
            <a:ext cx="469085" cy="469085"/>
            <a:chOff x="369206" y="1255438"/>
            <a:chExt cx="469085" cy="469085"/>
          </a:xfrm>
        </p:grpSpPr>
        <p:sp>
          <p:nvSpPr>
            <p:cNvPr id="117" name="Google Shape;117;p4"/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lt1"/>
            </a:solidFill>
            <a:ln cap="flat" cmpd="sng" w="25400">
              <a:solidFill>
                <a:srgbClr val="FFC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8" name="Google Shape;118;p4"/>
            <p:cNvPicPr preferRelativeResize="0"/>
            <p:nvPr/>
          </p:nvPicPr>
          <p:blipFill rotWithShape="1">
            <a:blip r:embed="rId4">
              <a:alphaModFix/>
            </a:blip>
            <a:srcRect b="0" l="0" r="0" t="4187"/>
            <a:stretch/>
          </p:blipFill>
          <p:spPr>
            <a:xfrm>
              <a:off x="463375" y="1329652"/>
              <a:ext cx="306524" cy="2936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9" name="Google Shape;119;p4"/>
          <p:cNvSpPr/>
          <p:nvPr/>
        </p:nvSpPr>
        <p:spPr>
          <a:xfrm>
            <a:off x="235500" y="3734980"/>
            <a:ext cx="469085" cy="469085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fr-FR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872975" y="1797775"/>
            <a:ext cx="7271100" cy="6603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fr-FR" sz="1600"/>
              <a:t>Stripe doit gérer de grands volumes de données de formats différents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fr-FR" sz="1600"/>
              <a:t>Les données gérées sont sensibles et les latences doivent être faibles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24650" y="1765200"/>
            <a:ext cx="1252200" cy="6603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fr-F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Constats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4"/>
          <p:cNvSpPr txBox="1"/>
          <p:nvPr>
            <p:ph idx="12" type="sldNum"/>
          </p:nvPr>
        </p:nvSpPr>
        <p:spPr>
          <a:xfrm>
            <a:off x="8472458" y="4947196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7733615" y="270191"/>
            <a:ext cx="1098600" cy="3330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4"/>
          <p:cNvSpPr txBox="1"/>
          <p:nvPr/>
        </p:nvSpPr>
        <p:spPr>
          <a:xfrm>
            <a:off x="7704792" y="313600"/>
            <a:ext cx="1156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0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Lien Github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5" name="Google Shape;125;p4"/>
          <p:cNvCxnSpPr/>
          <p:nvPr/>
        </p:nvCxnSpPr>
        <p:spPr>
          <a:xfrm>
            <a:off x="7134931" y="440687"/>
            <a:ext cx="570000" cy="0"/>
          </a:xfrm>
          <a:prstGeom prst="straightConnector1">
            <a:avLst/>
          </a:prstGeom>
          <a:noFill/>
          <a:ln cap="flat" cmpd="sng" w="76200">
            <a:solidFill>
              <a:srgbClr val="FFC000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Data pipeline &amp; architecture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31" name="Google Shape;13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1"/>
          <p:cNvSpPr txBox="1"/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i="0" lang="fr-FR" sz="14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Intervalle de relocation de voiture</a:t>
            </a:r>
            <a:endParaRPr b="1" i="0" sz="14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34" name="Google Shape;134;p11"/>
          <p:cNvSpPr txBox="1"/>
          <p:nvPr>
            <p:ph idx="12" type="sldNum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135" name="Google Shape;135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406" y="1307449"/>
            <a:ext cx="5668153" cy="3432177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1"/>
          <p:cNvSpPr/>
          <p:nvPr/>
        </p:nvSpPr>
        <p:spPr>
          <a:xfrm>
            <a:off x="5900000" y="936400"/>
            <a:ext cx="3007800" cy="3955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Cryptage</a:t>
            </a:r>
            <a:r>
              <a:rPr b="1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i="0" lang="fr-FR" sz="1200" u="none" cap="none" strike="noStrike">
                <a:solidFill>
                  <a:srgbClr val="000000"/>
                </a:solidFill>
              </a:rPr>
              <a:t>Fi</a:t>
            </a:r>
            <a:r>
              <a:rPr lang="fr-FR" sz="1200"/>
              <a:t>eld-Level Encryption (for PII and PAN), at rest (all data), in transit (all data)</a:t>
            </a:r>
            <a:endParaRPr sz="1200"/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</a:pPr>
            <a:r>
              <a:rPr b="1" lang="fr-FR" sz="1200"/>
              <a:t>Access control:</a:t>
            </a:r>
            <a:r>
              <a:rPr lang="fr-FR" sz="1200"/>
              <a:t> Service account get 1hr TTL token issued on demand, humans require MFA and limited access.</a:t>
            </a:r>
            <a:endParaRPr sz="1200"/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Audit logs:</a:t>
            </a:r>
            <a:r>
              <a:rPr lang="fr-FR" sz="1200"/>
              <a:t> written in MongoDB for 90 days, then archived to S3 in Compliance mode</a:t>
            </a:r>
            <a:endParaRPr sz="1200"/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Compliance </a:t>
            </a:r>
            <a:r>
              <a:rPr lang="fr-FR" sz="1200"/>
              <a:t>proof are uploaded on s3 regularly through DAGs. Erasure is handled through an automated action.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Monitoring</a:t>
            </a:r>
            <a:r>
              <a:rPr b="1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b="0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200"/>
              <a:t>Threat detection is fed to an SIEM.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9550" lvl="0" marL="28575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3a03c189e_0_0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OLTP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42" name="Google Shape;142;g3e3a03c189e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g3e3a03c189e_0_0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e3a03c189e_0_0"/>
          <p:cNvSpPr txBox="1"/>
          <p:nvPr/>
        </p:nvSpPr>
        <p:spPr>
          <a:xfrm>
            <a:off x="1192664" y="779179"/>
            <a:ext cx="53151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-FR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Transaction information and outbox-events</a:t>
            </a:r>
            <a:endParaRPr b="1" i="0" sz="14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45" name="Google Shape;145;g3e3a03c189e_0_0"/>
          <p:cNvSpPr txBox="1"/>
          <p:nvPr>
            <p:ph idx="12" type="sldNum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146" name="Google Shape;146;g3e3a03c189e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1525" y="1307479"/>
            <a:ext cx="4778212" cy="343214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g3e3a03c189e_0_0"/>
          <p:cNvSpPr/>
          <p:nvPr/>
        </p:nvSpPr>
        <p:spPr>
          <a:xfrm>
            <a:off x="5900000" y="936400"/>
            <a:ext cx="3007800" cy="3955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Stockage exhaustif</a:t>
            </a:r>
            <a:r>
              <a:rPr lang="fr-FR" sz="1200"/>
              <a:t> des données de transaction, suivant les règles de normalisations.</a:t>
            </a:r>
            <a:endParaRPr sz="1200"/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Outbox_events</a:t>
            </a:r>
            <a:r>
              <a:rPr b="1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fr-FR" sz="1200"/>
              <a:t>Collects event information to feed them to Kafka and ensure ACID transactions to other services.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9550" lvl="0" marL="28575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3a03c189e_0_15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OLAP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53" name="Google Shape;153;g3e3a03c189e_0_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g3e3a03c189e_0_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e3a03c189e_0_15"/>
          <p:cNvSpPr txBox="1"/>
          <p:nvPr/>
        </p:nvSpPr>
        <p:spPr>
          <a:xfrm>
            <a:off x="1192664" y="779179"/>
            <a:ext cx="53151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-FR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Transaction fact + daily_revenue materialized</a:t>
            </a:r>
            <a:endParaRPr b="1" i="0" sz="14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6" name="Google Shape;156;g3e3a03c189e_0_15"/>
          <p:cNvSpPr txBox="1"/>
          <p:nvPr>
            <p:ph idx="12" type="sldNum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157" name="Google Shape;157;g3e3a03c189e_0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5350" y="1307475"/>
            <a:ext cx="5594651" cy="337528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e3a03c189e_0_15"/>
          <p:cNvSpPr/>
          <p:nvPr/>
        </p:nvSpPr>
        <p:spPr>
          <a:xfrm>
            <a:off x="5900000" y="936400"/>
            <a:ext cx="3007800" cy="3955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Schéma en étoile</a:t>
            </a:r>
            <a:r>
              <a:rPr lang="fr-FR" sz="1200"/>
              <a:t> autour d’une table de fait transaction afin de faciliter et d’alléger les requêtes.</a:t>
            </a:r>
            <a:r>
              <a:rPr b="1" lang="fr-FR"/>
              <a:t> </a:t>
            </a:r>
            <a:endParaRPr sz="1200"/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Vue matérialisée </a:t>
            </a:r>
            <a:r>
              <a:rPr lang="fr-FR" sz="1200"/>
              <a:t>Daily revenue</a:t>
            </a:r>
            <a:r>
              <a:rPr b="1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fr-FR" sz="1200"/>
              <a:t>utilisée quotidiennement pour suivre les revenues, et pour construire les suivies de revenus mensuels</a:t>
            </a:r>
            <a:r>
              <a:rPr lang="fr-FR" sz="1200"/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9550" lvl="0" marL="28575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e436c1bcfb_0_2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NoSQL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64" name="Google Shape;164;g3e436c1bcfb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3e436c1bcfb_0_2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g3e436c1bcfb_0_2"/>
          <p:cNvSpPr txBox="1"/>
          <p:nvPr/>
        </p:nvSpPr>
        <p:spPr>
          <a:xfrm>
            <a:off x="1192664" y="779179"/>
            <a:ext cx="53151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-FR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Five collections</a:t>
            </a:r>
            <a:endParaRPr b="1" i="0" sz="14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67" name="Google Shape;167;g3e436c1bcfb_0_2"/>
          <p:cNvSpPr txBox="1"/>
          <p:nvPr>
            <p:ph idx="12" type="sldNum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sp>
        <p:nvSpPr>
          <p:cNvPr id="168" name="Google Shape;168;g3e436c1bcfb_0_2"/>
          <p:cNvSpPr txBox="1"/>
          <p:nvPr/>
        </p:nvSpPr>
        <p:spPr>
          <a:xfrm>
            <a:off x="108975" y="1200900"/>
            <a:ext cx="30000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T</a:t>
            </a:r>
            <a:r>
              <a:rPr b="1" lang="fr-FR" sz="1200">
                <a:solidFill>
                  <a:schemeClr val="dk1"/>
                </a:solidFill>
              </a:rPr>
              <a:t>ransaction_events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(embedded device + fraud signals): reference entities (customer and merchants) and embed small context (rate at transaction, device, geo, fraud_signals, etc.)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Customer_profiles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embedded, updated by ML pipeline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User_sessions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Embed events, reference session chain, create new child document when even_count hits 100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69" name="Google Shape;169;g3e436c1bcfb_0_2"/>
          <p:cNvSpPr txBox="1"/>
          <p:nvPr/>
        </p:nvSpPr>
        <p:spPr>
          <a:xfrm>
            <a:off x="3108975" y="1200900"/>
            <a:ext cx="30000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ml_features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embedded features, reference to prior versions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audit_log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Fully embedded, with before/after state of transaction, and a TTL to suppress the log after X days in MongoDB and push it to S3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70" name="Google Shape;170;g3e436c1bcfb_0_2"/>
          <p:cNvSpPr txBox="1"/>
          <p:nvPr/>
        </p:nvSpPr>
        <p:spPr>
          <a:xfrm>
            <a:off x="6280625" y="1313650"/>
            <a:ext cx="2863500" cy="3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Transaction_events, Customer_profiles, User_sessions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Transaction data collected and used for requests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Ml_features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Collect the features used for machine learning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Audit_log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Record the transactions for further audits.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171" name="Google Shape;171;g3e436c1bcfb_0_2"/>
          <p:cNvCxnSpPr/>
          <p:nvPr/>
        </p:nvCxnSpPr>
        <p:spPr>
          <a:xfrm flipH="1">
            <a:off x="6181050" y="1174475"/>
            <a:ext cx="5700" cy="3665100"/>
          </a:xfrm>
          <a:prstGeom prst="straightConnector1">
            <a:avLst/>
          </a:prstGeom>
          <a:noFill/>
          <a:ln cap="flat" cmpd="sng" w="28575">
            <a:solidFill>
              <a:srgbClr val="00DBD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e3a03c189e_0_28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Data flows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77" name="Google Shape;177;g3e3a03c189e_0_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g3e3a03c189e_0_2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3e3a03c189e_0_28"/>
          <p:cNvSpPr txBox="1"/>
          <p:nvPr/>
        </p:nvSpPr>
        <p:spPr>
          <a:xfrm>
            <a:off x="1192664" y="779179"/>
            <a:ext cx="53151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-FR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Kafka streaming from OLTP</a:t>
            </a:r>
            <a:endParaRPr b="1" i="0" sz="14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0" name="Google Shape;180;g3e3a03c189e_0_28"/>
          <p:cNvSpPr txBox="1"/>
          <p:nvPr>
            <p:ph idx="12" type="sldNum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181" name="Google Shape;181;g3e3a03c189e_0_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725" y="1164317"/>
            <a:ext cx="4448009" cy="3432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g3e3a03c189e_0_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6725" y="4652400"/>
            <a:ext cx="4448000" cy="179291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e3a03c189e_0_28"/>
          <p:cNvSpPr txBox="1"/>
          <p:nvPr/>
        </p:nvSpPr>
        <p:spPr>
          <a:xfrm>
            <a:off x="4943775" y="1164325"/>
            <a:ext cx="40773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NoSQL stream:</a:t>
            </a:r>
            <a:endParaRPr b="1"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Fills the NoSQL collections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OLAP stream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Update the OLAP table and generate the views (daily, monthly)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Redis stream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Temporarily</a:t>
            </a:r>
            <a:r>
              <a:rPr lang="fr-FR" sz="1200">
                <a:solidFill>
                  <a:schemeClr val="dk1"/>
                </a:solidFill>
              </a:rPr>
              <a:t> stores data to distribute them to </a:t>
            </a:r>
            <a:r>
              <a:rPr lang="fr-FR" sz="1200">
                <a:solidFill>
                  <a:schemeClr val="dk1"/>
                </a:solidFill>
              </a:rPr>
              <a:t>the ML inference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fr-FR" sz="1200">
                <a:solidFill>
                  <a:schemeClr val="dk1"/>
                </a:solidFill>
              </a:rPr>
              <a:t>Ml_inference stream</a:t>
            </a:r>
            <a:r>
              <a:rPr lang="fr-FR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1" marL="4950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fr-FR" sz="1200">
                <a:solidFill>
                  <a:schemeClr val="dk1"/>
                </a:solidFill>
              </a:rPr>
              <a:t>Give a fraud score to each transaction and stores it in the OLTP and MongoDB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3a03c189e_0_42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Machine Learning Integration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9" name="Google Shape;189;g3e3a03c189e_0_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g3e3a03c189e_0_42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g3e3a03c189e_0_42"/>
          <p:cNvSpPr txBox="1"/>
          <p:nvPr/>
        </p:nvSpPr>
        <p:spPr>
          <a:xfrm>
            <a:off x="1192664" y="779179"/>
            <a:ext cx="53151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-FR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Inference and Monitoring</a:t>
            </a:r>
            <a:endParaRPr b="1" i="0" sz="14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2" name="Google Shape;192;g3e3a03c189e_0_42"/>
          <p:cNvSpPr/>
          <p:nvPr/>
        </p:nvSpPr>
        <p:spPr>
          <a:xfrm>
            <a:off x="7500992" y="765913"/>
            <a:ext cx="1098600" cy="3330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e3a03c189e_0_42"/>
          <p:cNvSpPr txBox="1"/>
          <p:nvPr/>
        </p:nvSpPr>
        <p:spPr>
          <a:xfrm>
            <a:off x="7472169" y="809322"/>
            <a:ext cx="1156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0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Lien Dashboard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4" name="Google Shape;194;g3e3a03c189e_0_42"/>
          <p:cNvCxnSpPr/>
          <p:nvPr/>
        </p:nvCxnSpPr>
        <p:spPr>
          <a:xfrm>
            <a:off x="6902308" y="936409"/>
            <a:ext cx="570000" cy="0"/>
          </a:xfrm>
          <a:prstGeom prst="straightConnector1">
            <a:avLst/>
          </a:prstGeom>
          <a:noFill/>
          <a:ln cap="flat" cmpd="sng" w="76200">
            <a:solidFill>
              <a:srgbClr val="FFC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95" name="Google Shape;195;g3e3a03c189e_0_42"/>
          <p:cNvSpPr txBox="1"/>
          <p:nvPr>
            <p:ph idx="12" type="sldNum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196" name="Google Shape;196;g3e3a03c189e_0_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7375" y="1222504"/>
            <a:ext cx="3525426" cy="3432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3e3a03c189e_0_4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14026" y="1257754"/>
            <a:ext cx="4695045" cy="34321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2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-FR" sz="25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Conclusion</a:t>
            </a:r>
            <a:endParaRPr b="0"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4" name="Google Shape;20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2"/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Lors d’un paiement:</a:t>
            </a:r>
            <a:r>
              <a:rPr lang="fr-FR" sz="1200"/>
              <a:t> L’ensemble des informations sont chargées dans une OLTP, incluant une outbox_events table pour assurer le flux de données dans le reste des services.</a:t>
            </a:r>
            <a:endParaRPr sz="1200"/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</a:pPr>
            <a:r>
              <a:rPr b="1" lang="fr-FR" sz="1200"/>
              <a:t>Debezium CDC+Kafka:</a:t>
            </a:r>
            <a:r>
              <a:rPr lang="fr-FR" sz="1200"/>
              <a:t> Collectent les données de la Outbox_event et les distribuent dans les 4 flux afin de: populer l’OLAP, populer la NoSQL DB et faire le calcul d’inférence.</a:t>
            </a:r>
            <a:endParaRPr sz="1200"/>
          </a:p>
          <a:p>
            <a:pPr indent="-171450" lvl="0" marL="1714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Monitoring</a:t>
            </a:r>
            <a:r>
              <a:rPr b="1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b="0" i="0" lang="fr-F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1) </a:t>
            </a:r>
            <a:r>
              <a:rPr lang="fr-FR" sz="1200"/>
              <a:t>the services performances, 2) data drift, 3) performance drop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9550" lvl="0" marL="28575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2"/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lang="fr-FR" sz="1200"/>
              <a:t>Sécurité: </a:t>
            </a:r>
            <a:endParaRPr b="1" sz="1200"/>
          </a:p>
          <a:p>
            <a:pPr indent="-304800" lvl="1" marL="9144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○"/>
            </a:pPr>
            <a:r>
              <a:rPr lang="fr-FR" sz="1200"/>
              <a:t>Encodage multi-couche</a:t>
            </a:r>
            <a:endParaRPr sz="1200"/>
          </a:p>
          <a:p>
            <a:pPr indent="-304800" lvl="1" marL="9144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○"/>
            </a:pPr>
            <a:r>
              <a:rPr lang="fr-FR" sz="1200"/>
              <a:t>Contrôle des accès</a:t>
            </a:r>
            <a:endParaRPr sz="1200"/>
          </a:p>
          <a:p>
            <a:pPr indent="-304800" lvl="1" marL="9144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○"/>
            </a:pPr>
            <a:r>
              <a:rPr lang="fr-FR" sz="1200"/>
              <a:t>Enregistrement des logs d’audit en mode compliance</a:t>
            </a:r>
            <a:endParaRPr sz="1200"/>
          </a:p>
          <a:p>
            <a:pPr indent="-304800" lvl="1" marL="9144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○"/>
            </a:pPr>
            <a:r>
              <a:rPr lang="fr-FR" sz="1200"/>
              <a:t>Effacement légal via flux automatisé</a:t>
            </a:r>
            <a:endParaRPr sz="1200"/>
          </a:p>
          <a:p>
            <a:pPr indent="-304800" lvl="1" marL="9144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○"/>
            </a:pPr>
            <a:r>
              <a:rPr lang="fr-FR" sz="1200"/>
              <a:t>Monitoring</a:t>
            </a:r>
            <a:endParaRPr sz="1200"/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9550" lvl="0" marL="2857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2"/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560004" y="1144627"/>
            <a:ext cx="375496" cy="3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2"/>
          <p:cNvSpPr txBox="1"/>
          <p:nvPr>
            <p:ph idx="12" type="sldNum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-FR" sz="52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b="0"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15" name="Google Shape;21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</cp:coreProperties>
</file>